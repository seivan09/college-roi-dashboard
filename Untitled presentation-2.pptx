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Poppins"/>
      <p:regular r:id="rId14"/>
      <p:bold r:id="rId15"/>
      <p:italic r:id="rId16"/>
      <p:boldItalic r:id="rId17"/>
    </p:embeddedFont>
    <p:embeddedFont>
      <p:font typeface="Urbanist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Urbanist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26" Type="http://schemas.openxmlformats.org/officeDocument/2006/relationships/font" Target="fonts/PoppinsSemiBold-regular.fntdata"/><Relationship Id="rId25" Type="http://schemas.openxmlformats.org/officeDocument/2006/relationships/font" Target="fonts/Urbanist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29" Type="http://schemas.openxmlformats.org/officeDocument/2006/relationships/font" Target="fonts/PoppinsSemiBold-boldItalic.fntdata"/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a1d13bb1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a1d13bb1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1d13bb136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a1d13bb136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a1d13bb136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a1d13bb136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1d13bb136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a1d13bb136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3187175" y="3715675"/>
            <a:ext cx="5622600" cy="2781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000">
                <a:latin typeface="Arial"/>
                <a:ea typeface="Arial"/>
                <a:cs typeface="Arial"/>
                <a:sym typeface="Arial"/>
              </a:rPr>
              <a:t>College ROI Dashboard</a:t>
            </a:r>
            <a:br>
              <a:rPr b="1" lang="en" sz="3000">
                <a:latin typeface="Arial"/>
                <a:ea typeface="Arial"/>
                <a:cs typeface="Arial"/>
                <a:sym typeface="Arial"/>
              </a:rPr>
            </a:br>
            <a:r>
              <a:rPr lang="en" sz="3000">
                <a:latin typeface="Arial"/>
                <a:ea typeface="Arial"/>
                <a:cs typeface="Arial"/>
                <a:sym typeface="Arial"/>
              </a:rPr>
              <a:t>Using U.S. Department of Education Scorecard Data</a:t>
            </a:r>
            <a:br>
              <a:rPr lang="en" sz="3000">
                <a:latin typeface="Arial"/>
                <a:ea typeface="Arial"/>
                <a:cs typeface="Arial"/>
                <a:sym typeface="Arial"/>
              </a:rPr>
            </a:br>
            <a:r>
              <a:rPr i="1" lang="en" sz="3000">
                <a:latin typeface="Arial"/>
                <a:ea typeface="Arial"/>
                <a:cs typeface="Arial"/>
                <a:sym typeface="Arial"/>
              </a:rPr>
              <a:t>PAD 507 – Final Project</a:t>
            </a:r>
            <a:endParaRPr i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Project Goal</a:t>
            </a:r>
            <a:endParaRPr u="sng"/>
          </a:p>
        </p:txBody>
      </p:sp>
      <p:sp>
        <p:nvSpPr>
          <p:cNvPr id="579" name="Google Shape;579;p5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Goal:</a:t>
            </a:r>
            <a:br>
              <a:rPr lang="en" sz="2100"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2100">
                <a:latin typeface="Poppins SemiBold"/>
                <a:ea typeface="Poppins SemiBold"/>
                <a:cs typeface="Poppins SemiBold"/>
                <a:sym typeface="Poppins SemiBold"/>
              </a:rPr>
              <a:t>Use an interactive dashboard to compare U.S. colleges’ ROI.</a:t>
            </a:r>
            <a:endParaRPr sz="21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80" name="Google Shape;580;p5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Poppins SemiBold"/>
                <a:ea typeface="Poppins SemiBold"/>
                <a:cs typeface="Poppins SemiBold"/>
                <a:sym typeface="Poppins SemiBold"/>
              </a:rPr>
              <a:t>Use data on earnings, debt, ROI, regions, school types, and degrees to guide policy decisions on higher education.</a:t>
            </a:r>
            <a:endParaRPr sz="21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Data Source</a:t>
            </a:r>
            <a:endParaRPr u="sng"/>
          </a:p>
        </p:txBody>
      </p:sp>
      <p:sp>
        <p:nvSpPr>
          <p:cNvPr id="586" name="Google Shape;586;p5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Dataset</a:t>
            </a: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:</a:t>
            </a:r>
            <a:br>
              <a:rPr lang="en" sz="2100"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2100">
                <a:latin typeface="Poppins SemiBold"/>
                <a:ea typeface="Poppins SemiBold"/>
                <a:cs typeface="Poppins SemiBold"/>
                <a:sym typeface="Poppins SemiBold"/>
              </a:rPr>
              <a:t>U.S. Department of Education – Most-Recent Cohorts: Institution-Level Scorecard Data</a:t>
            </a:r>
            <a:endParaRPr sz="21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87" name="Google Shape;587;p5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Variables used</a:t>
            </a: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SCHOOL_NAME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– Institution name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STATE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– State abbreviation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SCHOOL_TYPE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– Public, Private Non-Profit, or Private For-Profit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PRE_DOMINANT_DEGREE_AWARDED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– Certificate, Associate, Bachelor, or Graduate degree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HIGHEST_DEGREE_AWARDED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– Highest level the school offers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REGION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– U.S. Census region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MEDIAN_EARNINGS_10_YEARS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– Median income 10 years post-enrollment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MEDIAN_DEBT_FOR_GRAD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– Median student debt at graduation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ROI</a:t>
            </a: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 – Calculated as Median </a:t>
            </a:r>
            <a:r>
              <a:rPr i="1" lang="en" sz="1100">
                <a:latin typeface="Poppins"/>
                <a:ea typeface="Poppins"/>
                <a:cs typeface="Poppins"/>
                <a:sym typeface="Poppins"/>
              </a:rPr>
              <a:t>Earnings ÷ Debt</a:t>
            </a:r>
            <a:endParaRPr sz="21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Extract Transform Load (ETL)</a:t>
            </a:r>
            <a:endParaRPr u="sng"/>
          </a:p>
        </p:txBody>
      </p:sp>
      <p:grpSp>
        <p:nvGrpSpPr>
          <p:cNvPr id="593" name="Google Shape;593;p57"/>
          <p:cNvGrpSpPr/>
          <p:nvPr/>
        </p:nvGrpSpPr>
        <p:grpSpPr>
          <a:xfrm>
            <a:off x="738900" y="1189877"/>
            <a:ext cx="2726700" cy="3482836"/>
            <a:chOff x="0" y="1189989"/>
            <a:chExt cx="2726700" cy="3482836"/>
          </a:xfrm>
        </p:grpSpPr>
        <p:sp>
          <p:nvSpPr>
            <p:cNvPr id="594" name="Google Shape;594;p57"/>
            <p:cNvSpPr/>
            <p:nvPr/>
          </p:nvSpPr>
          <p:spPr>
            <a:xfrm>
              <a:off x="0" y="1189989"/>
              <a:ext cx="27267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Extract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5" name="Google Shape;595;p57"/>
            <p:cNvSpPr txBox="1"/>
            <p:nvPr/>
          </p:nvSpPr>
          <p:spPr>
            <a:xfrm>
              <a:off x="410850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365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Char char="-"/>
              </a:pPr>
              <a:r>
                <a:rPr lang="en" sz="1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Pull data straight from the U.S. department of </a:t>
              </a:r>
              <a:r>
                <a:rPr lang="en" sz="1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education's</a:t>
              </a:r>
              <a:r>
                <a:rPr lang="en" sz="1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website.</a:t>
              </a:r>
              <a:endParaRPr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96" name="Google Shape;596;p57"/>
          <p:cNvGrpSpPr/>
          <p:nvPr/>
        </p:nvGrpSpPr>
        <p:grpSpPr>
          <a:xfrm>
            <a:off x="3036975" y="1189775"/>
            <a:ext cx="2541300" cy="3483050"/>
            <a:chOff x="2263425" y="1189775"/>
            <a:chExt cx="2541300" cy="3483050"/>
          </a:xfrm>
        </p:grpSpPr>
        <p:sp>
          <p:nvSpPr>
            <p:cNvPr id="597" name="Google Shape;597;p57"/>
            <p:cNvSpPr/>
            <p:nvPr/>
          </p:nvSpPr>
          <p:spPr>
            <a:xfrm>
              <a:off x="2263425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Transform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8" name="Google Shape;598;p57"/>
            <p:cNvSpPr txBox="1"/>
            <p:nvPr/>
          </p:nvSpPr>
          <p:spPr>
            <a:xfrm>
              <a:off x="2512202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365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Char char="-"/>
              </a:pPr>
              <a:r>
                <a:rPr lang="en" sz="1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Use R to organize and clean the data.</a:t>
              </a:r>
              <a:endParaRPr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365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Char char="-"/>
              </a:pPr>
              <a:r>
                <a:rPr lang="en" sz="1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Create a working table to do an analysis with.</a:t>
              </a:r>
              <a:endParaRPr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99" name="Google Shape;599;p57"/>
          <p:cNvGrpSpPr/>
          <p:nvPr/>
        </p:nvGrpSpPr>
        <p:grpSpPr>
          <a:xfrm>
            <a:off x="5242074" y="1189775"/>
            <a:ext cx="2541300" cy="3483050"/>
            <a:chOff x="4329974" y="1189775"/>
            <a:chExt cx="2541300" cy="3483050"/>
          </a:xfrm>
        </p:grpSpPr>
        <p:sp>
          <p:nvSpPr>
            <p:cNvPr id="600" name="Google Shape;600;p57"/>
            <p:cNvSpPr/>
            <p:nvPr/>
          </p:nvSpPr>
          <p:spPr>
            <a:xfrm>
              <a:off x="4329974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Load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1" name="Google Shape;601;p57"/>
            <p:cNvSpPr txBox="1"/>
            <p:nvPr/>
          </p:nvSpPr>
          <p:spPr>
            <a:xfrm>
              <a:off x="4613553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365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Roboto"/>
                <a:buChar char="-"/>
              </a:pPr>
              <a:r>
                <a:rPr lang="en" sz="1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Use Shiny (R dashboard tool) to create a dashboard to answer five </a:t>
              </a:r>
              <a:r>
                <a:rPr lang="en" sz="1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questions</a:t>
              </a:r>
              <a:r>
                <a:rPr lang="en" sz="1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about the data.</a:t>
              </a:r>
              <a:endParaRPr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